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1.jpeg" ContentType="image/jpeg"/>
  <Override PartName="/ppt/media/image2.jpeg" ContentType="image/jpe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6E9400C-13CB-4103-B9D9-CC027C0A096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0A19F35-78D2-4DAF-A68D-15AC66C5249D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82FCAA-F997-4BCF-8B56-2AE1DBE74855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B7C19C1-BAAC-4D3C-B462-C58A5420BC49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F8D485D-4BFB-4099-A158-6175EF97AD1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503280" y="225360"/>
            <a:ext cx="9036720" cy="42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AF0F4C7-11A0-44C1-A900-4E6BC5E8540F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9B8F0F1-3C24-4729-A7F0-8441E5DDE40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3E764E7-8B73-4781-835E-D926AA3CE09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16E37D9-7B94-46DA-8BE6-96AE2B4EF716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D3B12EE-7E67-406C-9B27-D94FDB554535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2A5D196-D5F8-46D3-9E00-B2C21F481698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F91D706-9E1F-49EF-94AE-E94D906A01B6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3A04FC-618F-4065-AACA-8918E92B58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96D949-9B77-4BD0-8683-5B0083EA2E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745295-455A-4580-BC57-8F47ADE315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115854-5E94-4599-93B5-372ECB9611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7BB464-EBE1-440B-8AC0-65A721408E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503280" y="225360"/>
            <a:ext cx="9036720" cy="42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E19C8D-60E3-4BEC-A200-E9D502DFCF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09CD6D-CAC0-4D4A-B105-82758D94BB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F1933D-93C6-4C86-8965-4A56C04487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E56AC6-840D-4E88-B58D-D742BC1901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003EC-6752-40B5-84EF-038E2D6129D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2A2A08-A128-4467-9F6A-9391EB7A187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973246-CF89-47E4-B292-C62625246F2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A2FEC4-59A4-4134-A807-ADEA4A417125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ACEA97-67DC-4184-BCD4-48DF66EAA64D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0E0E726-A694-4326-AB3A-78ECCE2745C1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28D5101-4A9C-41FC-9338-A304E4792D14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FDB84AB-8CD1-4B50-B1F8-12B8B791773F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503280" y="225360"/>
            <a:ext cx="9036720" cy="423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A9CFA1-12A7-4594-9737-8351D5353B62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C6337E-2544-4827-B722-09B04F4307BE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526D265-6F1F-4C71-B459-F4FDA5DA118F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1A8816-5748-4DA9-87E5-60DA95D1725A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74001A-829A-49E1-9F6F-1C442B875E97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574A80-082B-4046-BAE1-281F3FA25B17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C2DA766-4051-4FC9-8DD6-DD6042E4DBC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0" descr=""/>
          <p:cNvPicPr/>
          <p:nvPr/>
        </p:nvPicPr>
        <p:blipFill>
          <a:blip r:embed="rId2"/>
          <a:stretch/>
        </p:blipFill>
        <p:spPr>
          <a:xfrm>
            <a:off x="0" y="0"/>
            <a:ext cx="10078200" cy="5668200"/>
          </a:xfrm>
          <a:prstGeom prst="rect">
            <a:avLst/>
          </a:prstGeom>
          <a:ln w="0">
            <a:noFill/>
          </a:ln>
        </p:spPr>
      </p:pic>
      <p:sp>
        <p:nvSpPr>
          <p:cNvPr id="1" name="Freeform: Shape 43"/>
          <p:cNvSpPr/>
          <p:nvPr/>
        </p:nvSpPr>
        <p:spPr>
          <a:xfrm>
            <a:off x="4276800" y="1071720"/>
            <a:ext cx="281880" cy="281520"/>
          </a:xfrm>
          <a:custGeom>
            <a:avLst/>
            <a:gdLst/>
            <a:ahLst/>
            <a:rect l="l" t="t" r="r" b="b"/>
            <a:pathLst>
              <a:path w="394" h="394">
                <a:moveTo>
                  <a:pt x="0" y="394"/>
                </a:moveTo>
                <a:lnTo>
                  <a:pt x="394" y="394"/>
                </a:lnTo>
                <a:lnTo>
                  <a:pt x="180" y="90"/>
                </a:lnTo>
                <a:lnTo>
                  <a:pt x="394" y="394"/>
                </a:lnTo>
                <a:lnTo>
                  <a:pt x="270" y="90"/>
                </a:lnTo>
                <a:close/>
              </a:path>
            </a:pathLst>
          </a:custGeom>
          <a:solidFill>
            <a:srgbClr val="4ec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Straight Arrow Connector 44"/>
          <p:cNvSpPr/>
          <p:nvPr/>
        </p:nvSpPr>
        <p:spPr>
          <a:xfrm flipH="1" flipV="1">
            <a:off x="4640400" y="2962800"/>
            <a:ext cx="2171880" cy="1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rgbClr val="fad825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Rectangle 45"/>
          <p:cNvSpPr/>
          <p:nvPr/>
        </p:nvSpPr>
        <p:spPr>
          <a:xfrm>
            <a:off x="9856800" y="717480"/>
            <a:ext cx="221400" cy="4679280"/>
          </a:xfrm>
          <a:prstGeom prst="rect">
            <a:avLst/>
          </a:prstGeom>
          <a:solidFill>
            <a:srgbClr val="132e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6852960" y="5079960"/>
            <a:ext cx="338760" cy="31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spcBef>
                <a:spcPts val="249"/>
              </a:spcBef>
              <a:spcAft>
                <a:spcPts val="249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US" sz="1000" spc="-1" strike="noStrike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spcBef>
                <a:spcPts val="249"/>
              </a:spcBef>
              <a:spcAft>
                <a:spcPts val="249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D0DDCCBA-403C-4FB5-A836-6B40C937669B}" type="slidenum">
              <a:rPr b="0" lang="en-US" sz="1000" spc="-1" strike="noStrike">
                <a:solidFill>
                  <a:srgbClr val="585858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36720" cy="91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"/>
          </p:nvPr>
        </p:nvSpPr>
        <p:spPr>
          <a:xfrm>
            <a:off x="3448080" y="5165640"/>
            <a:ext cx="3161520" cy="35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algn="ctr"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3"/>
          </p:nvPr>
        </p:nvSpPr>
        <p:spPr>
          <a:xfrm>
            <a:off x="7227720" y="5165640"/>
            <a:ext cx="2314080" cy="35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algn="r"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7D0F2308-B490-42A9-9080-7CCB40DD76BC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dt" idx="4"/>
          </p:nvPr>
        </p:nvSpPr>
        <p:spPr>
          <a:xfrm>
            <a:off x="502920" y="5165640"/>
            <a:ext cx="2313720" cy="35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079280" cy="5669280"/>
          </a:xfrm>
          <a:prstGeom prst="rect">
            <a:avLst/>
          </a:prstGeom>
          <a:ln w="0">
            <a:noFill/>
          </a:ln>
        </p:spPr>
      </p:pic>
      <p:sp>
        <p:nvSpPr>
          <p:cNvPr id="85" name=""/>
          <p:cNvSpPr/>
          <p:nvPr/>
        </p:nvSpPr>
        <p:spPr>
          <a:xfrm>
            <a:off x="4276800" y="1071360"/>
            <a:ext cx="282240" cy="281880"/>
          </a:xfrm>
          <a:custGeom>
            <a:avLst/>
            <a:gdLst/>
            <a:ahLst/>
            <a:rect l="l" t="t" r="r" b="b"/>
            <a:pathLst>
              <a:path w="394" h="394">
                <a:moveTo>
                  <a:pt x="0" y="394"/>
                </a:moveTo>
                <a:lnTo>
                  <a:pt x="394" y="394"/>
                </a:lnTo>
                <a:lnTo>
                  <a:pt x="180" y="90"/>
                </a:lnTo>
                <a:lnTo>
                  <a:pt x="394" y="394"/>
                </a:lnTo>
                <a:lnTo>
                  <a:pt x="270" y="90"/>
                </a:lnTo>
                <a:close/>
              </a:path>
            </a:pathLst>
          </a:custGeom>
          <a:solidFill>
            <a:srgbClr val="4ec8d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"/>
          <p:cNvSpPr/>
          <p:nvPr/>
        </p:nvSpPr>
        <p:spPr>
          <a:xfrm flipH="1" flipV="1">
            <a:off x="3836880" y="2450160"/>
            <a:ext cx="1796040" cy="1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rgbClr val="fad825"/>
            </a:solidFill>
            <a:prstDash val="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"/>
          <p:cNvSpPr/>
          <p:nvPr/>
        </p:nvSpPr>
        <p:spPr>
          <a:xfrm>
            <a:off x="9857160" y="717120"/>
            <a:ext cx="221760" cy="4680360"/>
          </a:xfrm>
          <a:prstGeom prst="rect">
            <a:avLst/>
          </a:prstGeom>
          <a:solidFill>
            <a:srgbClr val="132e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50364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7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spcBef>
                <a:spcPts val="9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>
              <a:spcBef>
                <a:spcPts val="46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5"/>
          </p:nvPr>
        </p:nvSpPr>
        <p:spPr>
          <a:xfrm>
            <a:off x="6853320" y="5079960"/>
            <a:ext cx="341280" cy="32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algn="r">
              <a:lnSpc>
                <a:spcPct val="100000"/>
              </a:lnSpc>
              <a:spcBef>
                <a:spcPts val="238"/>
              </a:spcBef>
              <a:spcAft>
                <a:spcPts val="238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US" sz="1000" spc="-1" strike="noStrike">
                <a:solidFill>
                  <a:srgbClr val="585858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spcBef>
                <a:spcPts val="238"/>
              </a:spcBef>
              <a:spcAft>
                <a:spcPts val="238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22207E55-A975-4FB4-8277-79F7ED7D12F2}" type="slidenum">
              <a:rPr b="0" lang="en-US" sz="1000" spc="-1" strike="noStrike">
                <a:solidFill>
                  <a:srgbClr val="585858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ww.rc.virginia.edu/" TargetMode="External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012320" y="2026080"/>
            <a:ext cx="8047440" cy="43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spcBef>
                <a:spcPts val="249"/>
              </a:spcBef>
              <a:spcAft>
                <a:spcPts val="249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Franklin Gothic"/>
                <a:ea typeface="Franklin Gothic"/>
              </a:rPr>
              <a:t>Capstone Computing Resources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2251080" y="2927520"/>
            <a:ext cx="5439240" cy="228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lnSpc>
                <a:spcPct val="90000"/>
              </a:lnSpc>
              <a:spcBef>
                <a:spcPts val="224"/>
              </a:spcBef>
              <a:spcAft>
                <a:spcPts val="22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DS 6015: Data Science Capstone</a:t>
            </a:r>
            <a:endParaRPr b="0" lang="en-US" sz="21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76"/>
              </a:spcBef>
              <a:spcAft>
                <a:spcPts val="176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School of Data Science </a:t>
            </a:r>
            <a:endParaRPr b="0" lang="en-US" sz="21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76"/>
              </a:spcBef>
              <a:spcAft>
                <a:spcPts val="176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University of Virginia</a:t>
            </a:r>
            <a:endParaRPr b="0" lang="en-US" sz="21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76"/>
              </a:spcBef>
              <a:spcAft>
                <a:spcPts val="176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1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249"/>
              </a:spcBef>
              <a:spcAft>
                <a:spcPts val="249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  <a:ea typeface="Calibri"/>
              </a:rPr>
              <a:t>Last updated: August 18, 2025</a:t>
            </a:r>
            <a:endParaRPr b="0" lang="en-US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42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Compute and Storage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502920" y="2251080"/>
            <a:ext cx="9783000" cy="225360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To complete your capstone, you’ll need compute and storage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Compute – e.g., running Python scripts to train models, run inference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Storage – e.g., large amounts of data files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This deck will outline the options and considerations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34FB2C-B673-4EB2-9920-B56393090BD5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42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Agenda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502920" y="2251080"/>
            <a:ext cx="9783000" cy="225360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Symbol"/>
              <a:buChar char="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Sensitive Data</a:t>
            </a:r>
            <a:endParaRPr b="0" lang="en-US" sz="2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Symbol"/>
              <a:buChar char="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Sponsor Provided Resources</a:t>
            </a:r>
            <a:endParaRPr b="0" lang="en-US" sz="2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Symbol"/>
              <a:buChar char="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Computing on Your Own Machine</a:t>
            </a:r>
            <a:endParaRPr b="0" lang="en-US" sz="2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Symbol"/>
              <a:buChar char="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UVA Research Computing Resources</a:t>
            </a:r>
            <a:endParaRPr b="0" lang="en-US" sz="2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Symbol"/>
              <a:buChar char="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Example Scenarios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550077-FD25-43F4-81F6-EAF5BDF45A1F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42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Sensitive Data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subTitle"/>
          </p:nvPr>
        </p:nvSpPr>
        <p:spPr>
          <a:xfrm>
            <a:off x="502920" y="2359080"/>
            <a:ext cx="9783000" cy="225360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presence of sensitive data can complicate matters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Sensitive data includes:</a:t>
            </a: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Personally Identifiable Information (PII)</a:t>
            </a: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Protected Health Information (PHI)</a:t>
            </a: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- Company/business data 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Secure environments are a must for handling this data (e.g., Ivy)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Users cannot handle this data on their laptops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C2DE8A-AEBE-4FAF-9839-706065A215BA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42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Sensitive Data, contd.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502920" y="2359080"/>
            <a:ext cx="9783000" cy="225360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Not all capstones work with sensitive data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 some cases, sponsors can remove this data, or replace with meaningful data values that are not sensitive (de-identify the data)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541380-81FD-4521-B218-E56021FF37DF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42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Sponsor Provided Resources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ubTitle"/>
          </p:nvPr>
        </p:nvSpPr>
        <p:spPr>
          <a:xfrm>
            <a:off x="502920" y="2359080"/>
            <a:ext cx="9783000" cy="225360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 some cases, the sponsor might give you access to their platform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This is generally signaled early by the sponsor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Will require login credentials and possibly training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platform might be a cloud environment (e.g., AWS)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 would use the suggested tools (e.g., cloud storage, database)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890020-4414-491F-A04A-1E0B99079C6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42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Sponsor Provided Resources, contd.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502920" y="2214360"/>
            <a:ext cx="9783000" cy="225324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Users must NOT move the data off the platform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6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Users are generally given access to environment that is not production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6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B63D18-FD80-450B-B36D-621E8E3207C8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42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Computing on Your Own Machine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ubTitle"/>
          </p:nvPr>
        </p:nvSpPr>
        <p:spPr>
          <a:xfrm>
            <a:off x="502920" y="2359080"/>
            <a:ext cx="9783000" cy="225360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 some cases, you might be able to compute on your machine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May be feasible when: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datasets are small</a:t>
            </a: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data is not sensitive (e.g., no PII)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8B25CE-239B-4424-ABB8-208AE3E0CDC5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3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Computing on Your Own Machine, contd.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ubTitle"/>
          </p:nvPr>
        </p:nvSpPr>
        <p:spPr>
          <a:xfrm>
            <a:off x="502920" y="3222360"/>
            <a:ext cx="9783000" cy="134388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You will want to have a shared location for data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 some cases, the sponsor might have tools or suggestions</a:t>
            </a: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e.g., Google Drive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This can work for non-sensitive data 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2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650542-46F3-4433-AAA4-81E91BCBD2FB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3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UVA Research Computing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subTitle"/>
          </p:nvPr>
        </p:nvSpPr>
        <p:spPr>
          <a:xfrm>
            <a:off x="502920" y="2574000"/>
            <a:ext cx="9783000" cy="134388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UVA has on-premises computing resources: High Performance Cluster (HPC)</a:t>
            </a:r>
            <a:endParaRPr b="0" lang="en-US" sz="18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Your faculty mentor can request an allocation, storage for the team</a:t>
            </a:r>
            <a:endParaRPr b="0" lang="en-US" sz="18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ccccff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/>
              </a:rPr>
              <a:t>https://www.rc.virginia.edu/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Options: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latin typeface="Arial"/>
                <a:ea typeface="DejaVu Sans"/>
              </a:rPr>
              <a:t>&gt;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Rivanna / Afton: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computing and storage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For non-sensitive data</a:t>
            </a:r>
            <a:br>
              <a:rPr sz="1800"/>
            </a:br>
            <a:br>
              <a:rPr sz="1800"/>
            </a:b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&gt; Ivy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: Compute for sensitive data.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https://www.rc.virginia.edu/userinfo/ivy/</a:t>
            </a:r>
            <a:r>
              <a:rPr b="0" lang="en-US" sz="1800" spc="-1" strike="noStrike">
                <a:latin typeface="Arial"/>
                <a:ea typeface="DejaVu Sans"/>
              </a:rPr>
              <a:t> 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High security VPN on machine (need training first)</a:t>
            </a:r>
            <a:r>
              <a:rPr b="0" lang="en-US" sz="1800" spc="-1" strike="noStrike">
                <a:latin typeface="Arial"/>
                <a:ea typeface="DejaVu Sans"/>
              </a:rPr>
              <a:t> 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Need OPSWAT software on machine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Can take 1-2 weeks onboard (watch for emails with instructions)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68C35C-A6D7-4911-992C-B77B404D9A05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3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Example Compute Scenarios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ubTitle"/>
          </p:nvPr>
        </p:nvSpPr>
        <p:spPr>
          <a:xfrm>
            <a:off x="502920" y="2106720"/>
            <a:ext cx="9783000" cy="134388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 the sponsor can provide computational resources, this is a great option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18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 the sponsor cannot provide resources: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18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&gt; For non-sensitive data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- Large jobs: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Rivanna / Afton</a:t>
            </a:r>
            <a:br>
              <a:rPr sz="1800"/>
            </a:b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 Small jobs: Local, Google Colab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&gt; For sensitive data, use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Ivy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C86131-1D75-44DF-9846-B782A6715F16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2920" y="225360"/>
            <a:ext cx="9070200" cy="945360"/>
          </a:xfrm>
          <a:prstGeom prst="rect">
            <a:avLst/>
          </a:prstGeom>
          <a:noFill/>
          <a:ln w="0">
            <a:noFill/>
          </a:ln>
        </p:spPr>
        <p:txBody>
          <a:bodyPr lIns="0" rIns="0" tIns="39240" bIns="0" anchor="ctr">
            <a:noAutofit/>
          </a:bodyPr>
          <a:p>
            <a:pPr>
              <a:lnSpc>
                <a:spcPct val="93000"/>
              </a:lnSpc>
              <a:spcBef>
                <a:spcPts val="264"/>
              </a:spcBef>
              <a:spcAft>
                <a:spcPts val="264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3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Takeaways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ubTitle"/>
          </p:nvPr>
        </p:nvSpPr>
        <p:spPr>
          <a:xfrm>
            <a:off x="502920" y="2106720"/>
            <a:ext cx="9783000" cy="134388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ctr">
            <a:noAutofit/>
          </a:bodyPr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There are several options for compute / storage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Start the compute / storage discussion early with your sponsor and mentor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If you need UVA Research Computing (Rivanna / Afton or Ivy),</a:t>
            </a:r>
            <a:endParaRPr b="0" lang="en-US" sz="18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- Email your faculty mentor and Capstone Director early</a:t>
            </a:r>
            <a:br>
              <a:rPr sz="1800"/>
            </a:br>
            <a:endParaRPr b="0" lang="en-US" sz="18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51"/>
              </a:spcBef>
              <a:spcAft>
                <a:spcPts val="51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Never store sensitive data on your machine or Rivanna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AE91DD-8C1A-44CF-9E40-E9F356B42CD8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608</TotalTime>
  <Application>LibreOffice/7.3.4.2$Windows_X86_64 LibreOffice_project/728fec16bd5f605073805c3c9e7c4212a0120dc5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2023-07-15T14:08:24Z</dcterms:created>
  <dc:creator/>
  <dc:description/>
  <dc:language>en-US</dc:language>
  <cp:lastModifiedBy>Adam Tashman</cp:lastModifiedBy>
  <dcterms:modified xsi:type="dcterms:W3CDTF">2025-08-18T08:55:32Z</dcterms:modified>
  <cp:revision>413</cp:revision>
  <dc:subject/>
  <dc:title>Capstone Computation Resources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13</vt:i4>
  </property>
</Properties>
</file>