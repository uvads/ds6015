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media/image1.jpeg" ContentType="image/jpeg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D7B4CDB-2BE9-475D-BBF1-183752842D8A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3510D39-A691-418F-8CC5-2A8AF6DC616F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EB5CD4B-FA97-46C1-9755-1199963B4DC1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E0D96A6-0B45-4B82-B751-FF8E85F112A9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1040135-030D-4558-BBB5-4F748AFB5594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1D9E746-892C-43C9-BBE9-2EE77F2C8DB1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B9DF7F5-E663-4215-84C3-A8B9F9A8F42C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CAD8D4D-B71C-4E4F-A786-68911D931480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C8BB169-7B1D-459E-9C07-C53909231B4C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432CEAA-E874-442D-85A9-891B2D0767B0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0BDD2F4-6347-45A1-8869-9193ACE723BE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94B1824-3A22-4AD1-BC28-4B62A09C6381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9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6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9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5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6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7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8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" descr=""/>
          <p:cNvPicPr/>
          <p:nvPr/>
        </p:nvPicPr>
        <p:blipFill>
          <a:blip r:embed="rId2"/>
          <a:stretch/>
        </p:blipFill>
        <p:spPr>
          <a:xfrm>
            <a:off x="0" y="0"/>
            <a:ext cx="12190320" cy="6856200"/>
          </a:xfrm>
          <a:prstGeom prst="rect">
            <a:avLst/>
          </a:prstGeom>
          <a:ln w="0">
            <a:noFill/>
          </a:ln>
        </p:spPr>
      </p:pic>
      <p:sp>
        <p:nvSpPr>
          <p:cNvPr id="1" name=""/>
          <p:cNvSpPr/>
          <p:nvPr/>
        </p:nvSpPr>
        <p:spPr>
          <a:xfrm>
            <a:off x="5172840" y="1296000"/>
            <a:ext cx="341640" cy="340920"/>
          </a:xfrm>
          <a:custGeom>
            <a:avLst/>
            <a:gdLst/>
            <a:ahLst/>
            <a:rect l="l" t="t" r="r" b="b"/>
            <a:pathLst>
              <a:path w="394" h="394">
                <a:moveTo>
                  <a:pt x="0" y="394"/>
                </a:moveTo>
                <a:lnTo>
                  <a:pt x="394" y="394"/>
                </a:lnTo>
                <a:lnTo>
                  <a:pt x="180" y="90"/>
                </a:lnTo>
                <a:lnTo>
                  <a:pt x="394" y="394"/>
                </a:lnTo>
                <a:lnTo>
                  <a:pt x="270" y="90"/>
                </a:lnTo>
                <a:close/>
              </a:path>
            </a:pathLst>
          </a:custGeom>
          <a:solidFill>
            <a:srgbClr val="4ec8d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" name=""/>
          <p:cNvSpPr/>
          <p:nvPr/>
        </p:nvSpPr>
        <p:spPr>
          <a:xfrm flipH="1" flipV="1">
            <a:off x="4641120" y="2962800"/>
            <a:ext cx="2172240" cy="180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440">
            <a:solidFill>
              <a:srgbClr val="fad825"/>
            </a:solidFill>
            <a:prstDash val="dot"/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"/>
          <p:cNvSpPr/>
          <p:nvPr/>
        </p:nvSpPr>
        <p:spPr>
          <a:xfrm>
            <a:off x="11921760" y="867600"/>
            <a:ext cx="268200" cy="5660280"/>
          </a:xfrm>
          <a:prstGeom prst="rect">
            <a:avLst/>
          </a:prstGeom>
          <a:solidFill>
            <a:srgbClr val="132e6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Click to edit the outline text format</a:t>
            </a:r>
            <a:endParaRPr b="0" lang="en-US" sz="1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Second Outline Level</a:t>
            </a:r>
            <a:endParaRPr b="0" lang="en-US" sz="1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Third Outline Level</a:t>
            </a:r>
            <a:endParaRPr b="0" lang="en-US" sz="18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latin typeface="Arial"/>
              </a:rPr>
              <a:t>Fourth Outline Level</a:t>
            </a:r>
            <a:endParaRPr b="0" lang="en-US" sz="18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Fifth Outline Level</a:t>
            </a:r>
            <a:endParaRPr b="0" lang="en-US" sz="18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Sixth Outline Level</a:t>
            </a:r>
            <a:endParaRPr b="0" lang="en-US" sz="18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latin typeface="Arial"/>
              </a:rPr>
              <a:t>Seventh Outline Level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1"/>
          </p:nvPr>
        </p:nvSpPr>
        <p:spPr>
          <a:xfrm>
            <a:off x="8289000" y="6143760"/>
            <a:ext cx="412560" cy="387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algn="r">
              <a:lnSpc>
                <a:spcPct val="100000"/>
              </a:lnSpc>
              <a:spcBef>
                <a:spcPts val="238"/>
              </a:spcBef>
              <a:spcAft>
                <a:spcPts val="238"/>
              </a:spcAft>
              <a:buNone/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  <a:defRPr b="0" lang="en-US" sz="1000" spc="-1" strike="noStrike">
                <a:solidFill>
                  <a:srgbClr val="585858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spcBef>
                <a:spcPts val="238"/>
              </a:spcBef>
              <a:spcAft>
                <a:spcPts val="238"/>
              </a:spcAft>
              <a:buNone/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fld id="{52C4F3EF-7DB1-43DF-900B-ED433FAC2AE6}" type="slidenum">
              <a:rPr b="0" lang="en-US" sz="1000" spc="-1" strike="noStrike">
                <a:solidFill>
                  <a:srgbClr val="585858"/>
                </a:solidFill>
                <a:latin typeface="Arial"/>
                <a:ea typeface="Arial"/>
              </a:rPr>
              <a:t>&lt;number&gt;</a:t>
            </a:fld>
            <a:endParaRPr b="0" lang="en-US" sz="10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14"/>
          <p:cNvSpPr/>
          <p:nvPr/>
        </p:nvSpPr>
        <p:spPr>
          <a:xfrm>
            <a:off x="0" y="6560280"/>
            <a:ext cx="12188160" cy="293760"/>
          </a:xfrm>
          <a:prstGeom prst="rect">
            <a:avLst/>
          </a:prstGeom>
          <a:solidFill>
            <a:srgbClr val="0c27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4" name="矩形 8"/>
          <p:cNvSpPr/>
          <p:nvPr/>
        </p:nvSpPr>
        <p:spPr>
          <a:xfrm>
            <a:off x="0" y="0"/>
            <a:ext cx="12188160" cy="618120"/>
          </a:xfrm>
          <a:prstGeom prst="rect">
            <a:avLst/>
          </a:prstGeom>
          <a:solidFill>
            <a:srgbClr val="0c27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5" name="标题 1"/>
          <p:cNvSpPr/>
          <p:nvPr/>
        </p:nvSpPr>
        <p:spPr>
          <a:xfrm>
            <a:off x="783000" y="60120"/>
            <a:ext cx="65898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PlaceHolder 1"/>
          <p:cNvSpPr>
            <a:spLocks noGrp="1"/>
          </p:cNvSpPr>
          <p:nvPr>
            <p:ph type="ftr" idx="2"/>
          </p:nvPr>
        </p:nvSpPr>
        <p:spPr>
          <a:xfrm>
            <a:off x="11450880" y="6592320"/>
            <a:ext cx="646920" cy="22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0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000" spc="-1" strike="noStrike"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矩形 14"/>
          <p:cNvSpPr/>
          <p:nvPr/>
        </p:nvSpPr>
        <p:spPr>
          <a:xfrm>
            <a:off x="0" y="6560280"/>
            <a:ext cx="12188160" cy="293760"/>
          </a:xfrm>
          <a:prstGeom prst="rect">
            <a:avLst/>
          </a:prstGeom>
          <a:solidFill>
            <a:srgbClr val="0c27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6" name="矩形 8"/>
          <p:cNvSpPr/>
          <p:nvPr/>
        </p:nvSpPr>
        <p:spPr>
          <a:xfrm>
            <a:off x="0" y="0"/>
            <a:ext cx="12188160" cy="618120"/>
          </a:xfrm>
          <a:prstGeom prst="rect">
            <a:avLst/>
          </a:prstGeom>
          <a:solidFill>
            <a:srgbClr val="0c27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7" name="标题 1"/>
          <p:cNvSpPr/>
          <p:nvPr/>
        </p:nvSpPr>
        <p:spPr>
          <a:xfrm>
            <a:off x="783000" y="60120"/>
            <a:ext cx="65898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8" name="PlaceHolder 1"/>
          <p:cNvSpPr>
            <a:spLocks noGrp="1"/>
          </p:cNvSpPr>
          <p:nvPr>
            <p:ph type="ftr" idx="3"/>
          </p:nvPr>
        </p:nvSpPr>
        <p:spPr>
          <a:xfrm>
            <a:off x="11450880" y="6592320"/>
            <a:ext cx="646920" cy="22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0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000" spc="-1" strike="noStrike">
              <a:latin typeface="Times New Roman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矩形 14"/>
          <p:cNvSpPr/>
          <p:nvPr/>
        </p:nvSpPr>
        <p:spPr>
          <a:xfrm>
            <a:off x="0" y="6560280"/>
            <a:ext cx="12188160" cy="293760"/>
          </a:xfrm>
          <a:prstGeom prst="rect">
            <a:avLst/>
          </a:prstGeom>
          <a:solidFill>
            <a:srgbClr val="0c27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8" name="矩形 8"/>
          <p:cNvSpPr/>
          <p:nvPr/>
        </p:nvSpPr>
        <p:spPr>
          <a:xfrm>
            <a:off x="0" y="0"/>
            <a:ext cx="12188160" cy="618120"/>
          </a:xfrm>
          <a:prstGeom prst="rect">
            <a:avLst/>
          </a:prstGeom>
          <a:solidFill>
            <a:srgbClr val="0c27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9" name="标题 1"/>
          <p:cNvSpPr/>
          <p:nvPr/>
        </p:nvSpPr>
        <p:spPr>
          <a:xfrm>
            <a:off x="783000" y="60120"/>
            <a:ext cx="658980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PlaceHolder 1"/>
          <p:cNvSpPr>
            <a:spLocks noGrp="1"/>
          </p:cNvSpPr>
          <p:nvPr>
            <p:ph type="ftr" idx="4"/>
          </p:nvPr>
        </p:nvSpPr>
        <p:spPr>
          <a:xfrm>
            <a:off x="11450880" y="6592320"/>
            <a:ext cx="646920" cy="22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en-US" sz="1000" spc="-1" strike="noStrike">
                <a:solidFill>
                  <a:srgbClr val="ffffff"/>
                </a:solidFill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ffff"/>
                </a:solidFill>
                <a:latin typeface="Times New Roman"/>
              </a:rPr>
              <a:t>&lt;footer&gt;</a:t>
            </a:r>
            <a:endParaRPr b="0" lang="en-US" sz="1000" spc="-1" strike="noStrike">
              <a:latin typeface="Times New Roman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1224360" y="2450520"/>
            <a:ext cx="9732960" cy="53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>
              <a:lnSpc>
                <a:spcPct val="90000"/>
              </a:lnSpc>
              <a:spcBef>
                <a:spcPts val="264"/>
              </a:spcBef>
              <a:spcAft>
                <a:spcPts val="264"/>
              </a:spcAft>
              <a:buNone/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Franklin Gothic"/>
                <a:ea typeface="Franklin Gothic"/>
              </a:rPr>
              <a:t>Troubleshooting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2722680" y="3540600"/>
            <a:ext cx="6578280" cy="276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algn="ctr">
              <a:lnSpc>
                <a:spcPct val="90000"/>
              </a:lnSpc>
              <a:spcBef>
                <a:spcPts val="224"/>
              </a:spcBef>
              <a:spcAft>
                <a:spcPts val="224"/>
              </a:spcAft>
              <a:buNone/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Calibri"/>
                <a:ea typeface="Calibri"/>
              </a:rPr>
              <a:t>DS 6015: Data Science Capstone</a:t>
            </a:r>
            <a:endParaRPr b="0" lang="en-US" sz="2100" spc="-1" strike="noStrike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76"/>
              </a:spcBef>
              <a:spcAft>
                <a:spcPts val="176"/>
              </a:spcAft>
              <a:buNone/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Calibri"/>
                <a:ea typeface="Calibri"/>
              </a:rPr>
              <a:t>School of Data Science </a:t>
            </a:r>
            <a:endParaRPr b="0" lang="en-US" sz="2100" spc="-1" strike="noStrike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76"/>
              </a:spcBef>
              <a:spcAft>
                <a:spcPts val="176"/>
              </a:spcAft>
              <a:buNone/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Calibri"/>
                <a:ea typeface="Calibri"/>
              </a:rPr>
              <a:t>University of Virginia</a:t>
            </a:r>
            <a:endParaRPr b="0" lang="en-US" sz="2100" spc="-1" strike="noStrike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176"/>
              </a:spcBef>
              <a:spcAft>
                <a:spcPts val="176"/>
              </a:spcAft>
              <a:buNone/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endParaRPr b="0" lang="en-US" sz="2100" spc="-1" strike="noStrike"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249"/>
              </a:spcBef>
              <a:spcAft>
                <a:spcPts val="249"/>
              </a:spcAft>
              <a:buNone/>
              <a:tabLst>
                <a:tab algn="l" pos="0"/>
                <a:tab algn="l" pos="457200"/>
                <a:tab algn="l" pos="914400"/>
                <a:tab algn="l" pos="1371600"/>
                <a:tab algn="l" pos="1828800"/>
                <a:tab algn="l" pos="2286000"/>
                <a:tab algn="l" pos="2743200"/>
                <a:tab algn="l" pos="3200400"/>
                <a:tab algn="l" pos="3657600"/>
                <a:tab algn="l" pos="4114800"/>
                <a:tab algn="l" pos="4572000"/>
                <a:tab algn="l" pos="5029200"/>
                <a:tab algn="l" pos="5486400"/>
                <a:tab algn="l" pos="5943600"/>
                <a:tab algn="l" pos="6400800"/>
                <a:tab algn="l" pos="6858000"/>
                <a:tab algn="l" pos="7315200"/>
                <a:tab algn="l" pos="7772400"/>
                <a:tab algn="l" pos="8229600"/>
                <a:tab algn="l" pos="8686800"/>
                <a:tab algn="l" pos="9144000"/>
                <a:tab algn="l" pos="9601200"/>
                <a:tab algn="l" pos="10058400"/>
                <a:tab algn="l" pos="10515600"/>
              </a:tabLst>
            </a:pPr>
            <a:r>
              <a:rPr b="0" lang="en-US" sz="2100" spc="-1" strike="noStrike">
                <a:solidFill>
                  <a:srgbClr val="000000"/>
                </a:solidFill>
                <a:latin typeface="Calibri"/>
                <a:ea typeface="Calibri"/>
              </a:rPr>
              <a:t>Last updated: August 18, 2025</a:t>
            </a:r>
            <a:endParaRPr b="0" lang="en-US" sz="2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/>
          <p:nvPr/>
        </p:nvSpPr>
        <p:spPr>
          <a:xfrm>
            <a:off x="428760" y="2807640"/>
            <a:ext cx="11227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3200" spc="-1" strike="noStrike" u="sng">
                <a:solidFill>
                  <a:srgbClr val="000000"/>
                </a:solidFill>
                <a:uFillTx/>
                <a:latin typeface="Times New Roman"/>
                <a:ea typeface="DejaVu Sans"/>
              </a:rPr>
              <a:t>Troubleshooting</a:t>
            </a:r>
            <a:endParaRPr b="0" lang="en-US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Review of common issues encountered by earlier teams</a:t>
            </a:r>
            <a:endParaRPr b="0" lang="en-US" sz="2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6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Potential solutions are proposed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Table of Contents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"/>
          <p:cNvSpPr/>
          <p:nvPr/>
        </p:nvSpPr>
        <p:spPr>
          <a:xfrm>
            <a:off x="457200" y="1133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Troubleshooting Topics: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Not Enough Time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Unclear Problem Definition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Lack of Data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Meetings not Productive Enough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High Workload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Lacking Skills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Feedback not Frequent Enough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Model Doesn’t Generalize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Model is Unstable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Sponsor Unsure how to use Deliverables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Not Enough Time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"/>
          <p:cNvSpPr/>
          <p:nvPr/>
        </p:nvSpPr>
        <p:spPr>
          <a:xfrm>
            <a:off x="457200" y="1277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Q: What if there isn’t enough time to complete capstone?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Capstone projects are generally scoped to fit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Projects kick off the term before to allow for onboarding and discovery. </a:t>
            </a:r>
            <a:br>
              <a:rPr sz="2200"/>
            </a:br>
            <a:r>
              <a:rPr b="1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Teams that use this time wisely tend to do better.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If you are waiting on feedback, data, etc., stay productive. </a:t>
            </a:r>
            <a:br>
              <a:rPr sz="2200"/>
            </a:b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What else can be done?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Share the work across students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Unclear Problem Definition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80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"/>
          <p:cNvSpPr/>
          <p:nvPr/>
        </p:nvSpPr>
        <p:spPr>
          <a:xfrm>
            <a:off x="457200" y="1277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Each project should have a problem statement, but clarity may vary.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Q: What if the sponsor doesn’t clearly define the problem?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You might propose ideas at intersection of what’s achievable &amp; interesting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Lack of Data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"/>
          <p:cNvSpPr/>
          <p:nvPr/>
        </p:nvSpPr>
        <p:spPr>
          <a:xfrm>
            <a:off x="457200" y="1277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Each project should have data, but coverage and quality may vary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Q: What if the data won’t support the objective?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You might propose ideas on what is achievable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Solve for subset of population?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Pivot the question?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If labeled dataset is small, you might train on labeled data, 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  predict on unlabeled, and review cases with high/low probability.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Can more data be collected? Can supplemental data be created?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Making Meetings more Productive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86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"/>
          <p:cNvSpPr/>
          <p:nvPr/>
        </p:nvSpPr>
        <p:spPr>
          <a:xfrm>
            <a:off x="457200" y="1277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Each sponsor should meet w students as needed.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Q: What if the meetings aren’t productive enough?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You might try:</a:t>
            </a:r>
            <a:br>
              <a:rPr sz="2400"/>
            </a:b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Forming an agenda / agreeing on it beforehand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Sharing results beforehand to discuss during meeting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Decide Next Steps in the meeting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Call out decision points in meeting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Ask for feedback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High Workload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"/>
          <p:cNvSpPr/>
          <p:nvPr/>
        </p:nvSpPr>
        <p:spPr>
          <a:xfrm>
            <a:off x="457200" y="1277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The sponsor is made aware that capstone is one of several things students are working on. At the same time, capstone is an important component.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Q: What if the sponsor demands cannot be met?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First, the students should discuss and decide if things truly are too demanding, and assess if you are managing your time well.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You can discuss with your faculty mentor and Capstone Director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You can gently remind the sponsor of the workload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You can suggest what might be more reasonable and get buy in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Upskilling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"/>
          <p:cNvSpPr/>
          <p:nvPr/>
        </p:nvSpPr>
        <p:spPr>
          <a:xfrm>
            <a:off x="457200" y="1277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Ideally, the project brings together skills you’ve learned in the program.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Q: What if I don’t have the skills to solve the problem?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&gt; In some cases, you will need to learn new things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&gt; Your sponsor / mentor might be able to suggest resources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Upskilling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"/>
          <p:cNvSpPr/>
          <p:nvPr/>
        </p:nvSpPr>
        <p:spPr>
          <a:xfrm>
            <a:off x="457200" y="1277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Ideally, the project brings together skills you’ve learned in the program.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Q: What if I don’t have the skills to solve the problem?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In some cases, you will need to learn new things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Your sponsor / mentor might be able to suggest resources</a:t>
            </a:r>
            <a:br>
              <a:rPr sz="2200"/>
            </a:b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Keep a list of open questions, skills needed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   </a:t>
            </a: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Break these down into manageable tasks (e.g., learn n-gram models)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You might distribute the work across teammates and share learnings 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Sparse Feedback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98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"/>
          <p:cNvSpPr/>
          <p:nvPr/>
        </p:nvSpPr>
        <p:spPr>
          <a:xfrm>
            <a:off x="457200" y="1277640"/>
            <a:ext cx="1142820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Your mentor and sponsor should provide feedback on your work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Q: What if feedback isn’t arriving often enough?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You can try: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&gt; Checking if there is a better medium for feedback (email, meetings, …)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&gt; Asking if there is a better way to share results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   - Are questions clear enough?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   - Are things summarized? 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    (e.g., assemble separate questions into single slide)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Sparse Feedback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"/>
          <p:cNvSpPr/>
          <p:nvPr/>
        </p:nvSpPr>
        <p:spPr>
          <a:xfrm>
            <a:off x="457200" y="1277640"/>
            <a:ext cx="1142820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Your mentor and sponsor should provide feedback on your work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Q: What if feedback isn’t arriving often enough?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You can try: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&gt; Understanding if there are busier/quieter periods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&gt; Working on aspects not requiring the feedback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Model Doesn’t Generalize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"/>
          <p:cNvSpPr/>
          <p:nvPr/>
        </p:nvSpPr>
        <p:spPr>
          <a:xfrm>
            <a:off x="457200" y="1277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You’ve built a model on training data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The performance on new data is worse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Q: Why does my model perform much worse on new data?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This is usually a symptom of overfitting. Can consider: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k-fold cross validation (for ML models)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Dropout layers (for deep neural networks)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More suitable data (larger dataset, more recent data)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Looking at the distribution of training data, new data. 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  Is there drift in distribution? If so, training set isn’t sufficient.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Unstable Model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"/>
          <p:cNvSpPr/>
          <p:nvPr/>
        </p:nvSpPr>
        <p:spPr>
          <a:xfrm>
            <a:off x="457200" y="1277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You’ve built a model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When you change hyperparameters slightly, the results change drastically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Q: Why is my model so unstable?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While we tune models for better performance,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a drastic change in output is not desirable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The model may be too complex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Can try simpler model and examine sensitivity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Did you cross validate the model? This is a good practice when feasible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Sponsor Unsure how to use Deliverables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10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"/>
          <p:cNvSpPr/>
          <p:nvPr/>
        </p:nvSpPr>
        <p:spPr>
          <a:xfrm>
            <a:off x="457200" y="1277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Q: What if the sponsor is unsure how to use the deliverables?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Share work early and often. Avoid dropping everything on them at the end.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Leave time at the end to walk sponsor through deliverables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Have a meeting where sponsor team runs the code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&gt; Clearly document the work / code. A README file can be very effective.</a:t>
            </a:r>
            <a:br>
              <a:rPr sz="2200"/>
            </a:b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DejaVu Sans"/>
              </a:rPr>
              <a:t>It can include objective, main functionality.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"/>
          <p:cNvSpPr/>
          <p:nvPr/>
        </p:nvSpPr>
        <p:spPr>
          <a:xfrm>
            <a:off x="428760" y="71640"/>
            <a:ext cx="10084680" cy="53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3200" spc="-1" strike="noStrike">
                <a:solidFill>
                  <a:srgbClr val="ffffff"/>
                </a:solidFill>
                <a:latin typeface="Times New Roman"/>
                <a:ea typeface="DejaVu Sans"/>
              </a:rPr>
              <a:t>Final Thoughts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457200" y="2057400"/>
            <a:ext cx="43401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"/>
          <p:cNvSpPr/>
          <p:nvPr/>
        </p:nvSpPr>
        <p:spPr>
          <a:xfrm>
            <a:off x="457200" y="1277640"/>
            <a:ext cx="10512360" cy="348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You have a support system to help you through capstones including:</a:t>
            </a:r>
            <a:br>
              <a:rPr sz="2400"/>
            </a:b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teammates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sponsor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faculty mentor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- Program Director (Adam Tashman)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  <a:ea typeface="DejaVu Sans"/>
              </a:rPr>
              <a:t>Please lean on this system for help!</a:t>
            </a: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2588</TotalTime>
  <Application>LibreOffice/7.3.4.2$Windows_X86_64 LibreOffice_project/728fec16bd5f605073805c3c9e7c4212a0120dc5</Application>
  <AppVersion>15.0000</AppVersion>
  <Words>1597</Words>
  <Paragraphs>488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2022-01-22T01:34:19Z</dcterms:created>
  <dc:creator>Fu Owen</dc:creator>
  <dc:description/>
  <dc:language>en-US</dc:language>
  <cp:lastModifiedBy>Adam Tashman</cp:lastModifiedBy>
  <dcterms:modified xsi:type="dcterms:W3CDTF">2025-08-18T09:12:08Z</dcterms:modified>
  <cp:revision>135</cp:revision>
  <dc:subject/>
  <dc:title>PowerPoint 演示文稿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25</vt:i4>
  </property>
</Properties>
</file>