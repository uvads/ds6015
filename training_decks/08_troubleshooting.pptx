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media/image1.jpeg" ContentType="image/jpeg"/>
  <Override PartName="/ppt/media/image2.jpeg" ContentType="image/jpeg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1927757-72C9-4602-ACAA-9BCC1F191127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9BD7A71-970D-4E02-8FC8-1398063335F1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87D5757-C407-4553-8819-986A3146250B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0117F4C-FE46-4230-8C1B-FA66B039D641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C4EDC92-C44F-4D27-853A-BFA104D6103A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9FB64FD-4D8B-4031-9BB4-C47DBF6450FC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9FAFF4E-6FA0-4D70-8807-54C81CEE0CCD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B370204-6CF4-487D-BCE1-C9D8E1B2757B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6CEAE80-534F-4269-BC19-D2E414E6BE29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7671830-6A63-4850-8F80-EE153F2621C3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65DC861-EC83-4879-B9F5-34CB601FC907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EA1E509-845B-4EFC-86F6-319322D78A97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C3CCE4-8CB0-4187-AF92-A458D8B2CD3A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64E1FE-07F3-4FE3-A53F-352236F46568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D6980D-0284-4026-A4A1-C3E7561421B7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0CD8C0-1640-496B-A2B5-41DB3FFB9312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38DEE9-874C-4A25-8481-C277D136A571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497048-5E23-4F80-939F-34F03EFD1441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A2107A-C5FE-43A4-89D7-203576FD0DBC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AD2F5D-F0C2-4393-9815-799430C91BEC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7608CE-7BF6-4BFD-B28E-2ADA04A75566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8509F8-361C-4BB9-BA4C-3F4EC5C11C69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822570-8C54-42B5-9977-08B2F1FD0A73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C82B19-80B0-4976-90B3-1E3AB68436A2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78560" cy="5668560"/>
          </a:xfrm>
          <a:prstGeom prst="rect">
            <a:avLst/>
          </a:prstGeom>
          <a:ln w="0">
            <a:noFill/>
          </a:ln>
        </p:spPr>
      </p:pic>
      <p:sp>
        <p:nvSpPr>
          <p:cNvPr id="1" name=""/>
          <p:cNvSpPr/>
          <p:nvPr/>
        </p:nvSpPr>
        <p:spPr>
          <a:xfrm>
            <a:off x="4276800" y="1071720"/>
            <a:ext cx="282240" cy="281880"/>
          </a:xfrm>
          <a:custGeom>
            <a:avLst/>
            <a:gdLst/>
            <a:ahLst/>
            <a:rect l="l" t="t" r="r" b="b"/>
            <a:pathLst>
              <a:path w="394" h="394">
                <a:moveTo>
                  <a:pt x="0" y="394"/>
                </a:moveTo>
                <a:lnTo>
                  <a:pt x="394" y="394"/>
                </a:lnTo>
                <a:lnTo>
                  <a:pt x="180" y="90"/>
                </a:lnTo>
                <a:lnTo>
                  <a:pt x="394" y="394"/>
                </a:lnTo>
                <a:lnTo>
                  <a:pt x="270" y="90"/>
                </a:lnTo>
                <a:close/>
              </a:path>
            </a:pathLst>
          </a:custGeom>
          <a:solidFill>
            <a:srgbClr val="4ec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"/>
          <p:cNvSpPr/>
          <p:nvPr/>
        </p:nvSpPr>
        <p:spPr>
          <a:xfrm flipH="1" flipV="1">
            <a:off x="4641120" y="2962800"/>
            <a:ext cx="2172240" cy="1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440">
            <a:solidFill>
              <a:srgbClr val="fad825"/>
            </a:solidFill>
            <a:prstDash val="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"/>
          <p:cNvSpPr/>
          <p:nvPr/>
        </p:nvSpPr>
        <p:spPr>
          <a:xfrm>
            <a:off x="9856800" y="717480"/>
            <a:ext cx="221760" cy="4679640"/>
          </a:xfrm>
          <a:prstGeom prst="rect">
            <a:avLst/>
          </a:prstGeom>
          <a:solidFill>
            <a:srgbClr val="132e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1"/>
          </p:nvPr>
        </p:nvSpPr>
        <p:spPr>
          <a:xfrm>
            <a:off x="6852960" y="5079960"/>
            <a:ext cx="337680" cy="31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  <a:defRPr b="0" lang="en-US" sz="1000" spc="-1" strike="noStrike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ED86DF2E-FCD7-403A-90D6-945574834A6E}" type="slidenum">
              <a:rPr b="0" lang="en-US" sz="1000" spc="-1" strike="noStrike">
                <a:solidFill>
                  <a:srgbClr val="585858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14"/>
          <p:cNvSpPr/>
          <p:nvPr/>
        </p:nvSpPr>
        <p:spPr>
          <a:xfrm>
            <a:off x="0" y="6560280"/>
            <a:ext cx="12188520" cy="294120"/>
          </a:xfrm>
          <a:prstGeom prst="rect">
            <a:avLst/>
          </a:prstGeom>
          <a:solidFill>
            <a:srgbClr val="0c2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矩形 8"/>
          <p:cNvSpPr/>
          <p:nvPr/>
        </p:nvSpPr>
        <p:spPr>
          <a:xfrm>
            <a:off x="0" y="0"/>
            <a:ext cx="12188520" cy="618480"/>
          </a:xfrm>
          <a:prstGeom prst="rect">
            <a:avLst/>
          </a:prstGeom>
          <a:solidFill>
            <a:srgbClr val="0c2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标题 1"/>
          <p:cNvSpPr/>
          <p:nvPr/>
        </p:nvSpPr>
        <p:spPr>
          <a:xfrm>
            <a:off x="783000" y="60120"/>
            <a:ext cx="65901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PlaceHolder 1"/>
          <p:cNvSpPr>
            <a:spLocks noGrp="1"/>
          </p:cNvSpPr>
          <p:nvPr>
            <p:ph type="ftr" idx="2"/>
          </p:nvPr>
        </p:nvSpPr>
        <p:spPr>
          <a:xfrm>
            <a:off x="11450880" y="6592320"/>
            <a:ext cx="647280" cy="23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703840" y="1153440"/>
            <a:ext cx="5664600" cy="206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3000"/>
              </a:lnSpc>
              <a:spcBef>
                <a:spcPts val="238"/>
              </a:spcBef>
              <a:spcAft>
                <a:spcPts val="238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06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0" y="1639800"/>
            <a:ext cx="5895000" cy="58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60840" bIns="45000" anchor="t">
            <a:normAutofit/>
          </a:bodyPr>
          <a:p>
            <a:pPr marL="414360" indent="-414360">
              <a:lnSpc>
                <a:spcPct val="93000"/>
              </a:lnSpc>
              <a:spcBef>
                <a:spcPts val="2160"/>
              </a:spcBef>
              <a:spcAft>
                <a:spcPts val="286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1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lvl="1" marL="414360" indent="-414360">
              <a:lnSpc>
                <a:spcPct val="93000"/>
              </a:lnSpc>
              <a:spcBef>
                <a:spcPts val="2160"/>
              </a:spcBef>
              <a:spcAft>
                <a:spcPts val="286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1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lvl="2" marL="414360" indent="-414360">
              <a:lnSpc>
                <a:spcPct val="93000"/>
              </a:lnSpc>
              <a:spcBef>
                <a:spcPts val="2160"/>
              </a:spcBef>
              <a:spcAft>
                <a:spcPts val="286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1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lvl="3" marL="414360" indent="-414360">
              <a:lnSpc>
                <a:spcPct val="93000"/>
              </a:lnSpc>
              <a:spcBef>
                <a:spcPts val="2160"/>
              </a:spcBef>
              <a:spcAft>
                <a:spcPts val="286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1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lvl="4" marL="414360" indent="-414360">
              <a:lnSpc>
                <a:spcPct val="93000"/>
              </a:lnSpc>
              <a:spcBef>
                <a:spcPts val="2160"/>
              </a:spcBef>
              <a:spcAft>
                <a:spcPts val="286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1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lvl="5" marL="414360" indent="-414360">
              <a:lnSpc>
                <a:spcPct val="93000"/>
              </a:lnSpc>
              <a:spcBef>
                <a:spcPts val="2160"/>
              </a:spcBef>
              <a:spcAft>
                <a:spcPts val="286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1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lvl="6" marL="414360" indent="-414360">
              <a:lnSpc>
                <a:spcPct val="93000"/>
              </a:lnSpc>
              <a:spcBef>
                <a:spcPts val="2160"/>
              </a:spcBef>
              <a:spcAft>
                <a:spcPts val="286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1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172840" y="1296000"/>
            <a:ext cx="342000" cy="341280"/>
          </a:xfrm>
          <a:custGeom>
            <a:avLst/>
            <a:gdLst/>
            <a:ahLst/>
            <a:rect l="l" t="t" r="r" b="b"/>
            <a:pathLst>
              <a:path w="394" h="394">
                <a:moveTo>
                  <a:pt x="0" y="394"/>
                </a:moveTo>
                <a:lnTo>
                  <a:pt x="394" y="394"/>
                </a:lnTo>
                <a:lnTo>
                  <a:pt x="180" y="90"/>
                </a:lnTo>
                <a:lnTo>
                  <a:pt x="394" y="394"/>
                </a:lnTo>
                <a:lnTo>
                  <a:pt x="270" y="90"/>
                </a:lnTo>
                <a:close/>
              </a:path>
            </a:pathLst>
          </a:custGeom>
          <a:solidFill>
            <a:srgbClr val="4ec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89" name=""/>
          <p:cNvCxnSpPr/>
          <p:nvPr/>
        </p:nvCxnSpPr>
        <p:spPr>
          <a:xfrm flipH="1" flipV="1">
            <a:off x="4641120" y="2963520"/>
            <a:ext cx="2172600" cy="2160"/>
          </a:xfrm>
          <a:prstGeom prst="straightConnector1">
            <a:avLst/>
          </a:prstGeom>
          <a:ln w="28440">
            <a:solidFill>
              <a:srgbClr val="fad825"/>
            </a:solidFill>
            <a:prstDash val="dot"/>
            <a:miter/>
          </a:ln>
        </p:spPr>
      </p:cxnSp>
      <p:sp>
        <p:nvSpPr>
          <p:cNvPr id="90" name=""/>
          <p:cNvSpPr/>
          <p:nvPr/>
        </p:nvSpPr>
        <p:spPr>
          <a:xfrm>
            <a:off x="11921760" y="867600"/>
            <a:ext cx="268560" cy="5660640"/>
          </a:xfrm>
          <a:prstGeom prst="rect">
            <a:avLst/>
          </a:prstGeom>
          <a:solidFill>
            <a:srgbClr val="132e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PlaceHolder 3"/>
          <p:cNvSpPr>
            <a:spLocks noGrp="1"/>
          </p:cNvSpPr>
          <p:nvPr>
            <p:ph type="sldNum" idx="3"/>
          </p:nvPr>
        </p:nvSpPr>
        <p:spPr>
          <a:xfrm>
            <a:off x="8289000" y="6143760"/>
            <a:ext cx="412920" cy="388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spcBef>
                <a:spcPts val="238"/>
              </a:spcBef>
              <a:spcAft>
                <a:spcPts val="238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  <a:defRPr b="0" lang="en-US" sz="1000" spc="-1" strike="noStrike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spcBef>
                <a:spcPts val="238"/>
              </a:spcBef>
              <a:spcAft>
                <a:spcPts val="238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88CADE23-4469-4534-8EC2-66737AC24F42}" type="slidenum">
              <a:rPr b="0" lang="en-US" sz="1000" spc="-1" strike="noStrike">
                <a:solidFill>
                  <a:srgbClr val="585858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矩形 14"/>
          <p:cNvSpPr/>
          <p:nvPr/>
        </p:nvSpPr>
        <p:spPr>
          <a:xfrm>
            <a:off x="0" y="6560280"/>
            <a:ext cx="12188520" cy="294120"/>
          </a:xfrm>
          <a:prstGeom prst="rect">
            <a:avLst/>
          </a:prstGeom>
          <a:solidFill>
            <a:srgbClr val="0c2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9" name="矩形 8"/>
          <p:cNvSpPr/>
          <p:nvPr/>
        </p:nvSpPr>
        <p:spPr>
          <a:xfrm>
            <a:off x="0" y="0"/>
            <a:ext cx="12188520" cy="618480"/>
          </a:xfrm>
          <a:prstGeom prst="rect">
            <a:avLst/>
          </a:prstGeom>
          <a:solidFill>
            <a:srgbClr val="0c2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0" name="标题 1"/>
          <p:cNvSpPr/>
          <p:nvPr/>
        </p:nvSpPr>
        <p:spPr>
          <a:xfrm>
            <a:off x="783000" y="60120"/>
            <a:ext cx="65901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PlaceHolder 1"/>
          <p:cNvSpPr>
            <a:spLocks noGrp="1"/>
          </p:cNvSpPr>
          <p:nvPr>
            <p:ph type="ftr" idx="4"/>
          </p:nvPr>
        </p:nvSpPr>
        <p:spPr>
          <a:xfrm>
            <a:off x="11450880" y="6592320"/>
            <a:ext cx="647280" cy="23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1224360" y="2450520"/>
            <a:ext cx="973332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Franklin Gothic"/>
                <a:ea typeface="Franklin Gothic"/>
              </a:rPr>
              <a:t>Troubleshooting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2722680" y="3540600"/>
            <a:ext cx="6578640" cy="276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lnSpc>
                <a:spcPct val="90000"/>
              </a:lnSpc>
              <a:spcBef>
                <a:spcPts val="224"/>
              </a:spcBef>
              <a:spcAft>
                <a:spcPts val="22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  <a:ea typeface="Calibri"/>
              </a:rPr>
              <a:t>DS 6015: Data Science Capstone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76"/>
              </a:spcBef>
              <a:spcAft>
                <a:spcPts val="176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  <a:ea typeface="Calibri"/>
              </a:rPr>
              <a:t>School of Data Science 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76"/>
              </a:spcBef>
              <a:spcAft>
                <a:spcPts val="176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  <a:ea typeface="Calibri"/>
              </a:rPr>
              <a:t>University of Virginia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76"/>
              </a:spcBef>
              <a:spcAft>
                <a:spcPts val="176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49"/>
              </a:spcBef>
              <a:spcAft>
                <a:spcPts val="249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  <a:ea typeface="Calibri"/>
              </a:rPr>
              <a:t>Last updated: August 18, 2025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>
            <a:off x="428760" y="2807640"/>
            <a:ext cx="112280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 u="sng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Troubleshooting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Review of common issues encountered by earlier teams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Potential solutions are proposed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457200" y="2057400"/>
            <a:ext cx="434052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>
            <a:off x="428760" y="71640"/>
            <a:ext cx="100850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Not Enough Time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457200" y="2057400"/>
            <a:ext cx="434052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"/>
          <p:cNvSpPr/>
          <p:nvPr/>
        </p:nvSpPr>
        <p:spPr>
          <a:xfrm>
            <a:off x="457200" y="1277640"/>
            <a:ext cx="10512720" cy="34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Q: What if there isn’t enough time to complete capstone?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&gt; Capstone projects are generally scoped to fit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&gt; Projects kick off the term before to allow for onboarding and discovery. </a:t>
            </a:r>
            <a:br>
              <a:rPr sz="2200"/>
            </a:b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Teams that use this time wisely tend to do better.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&gt; If you are waiting on feedback, data, etc., stay productive. 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What else can be done?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&gt; Share the work across students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428760" y="71640"/>
            <a:ext cx="100850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Unclear Problem Definition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457200" y="2057400"/>
            <a:ext cx="434052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"/>
          <p:cNvSpPr/>
          <p:nvPr/>
        </p:nvSpPr>
        <p:spPr>
          <a:xfrm>
            <a:off x="457200" y="1277640"/>
            <a:ext cx="10512720" cy="34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Each project should have a problem statement, but clarity may vary.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Q: What if the sponsor doesn’t clearly define the problem?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You might propose ideas at intersection of what’s achievable &amp; interesting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>
            <a:off x="428760" y="71640"/>
            <a:ext cx="100850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Lack of Data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457200" y="2057400"/>
            <a:ext cx="434052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"/>
          <p:cNvSpPr/>
          <p:nvPr/>
        </p:nvSpPr>
        <p:spPr>
          <a:xfrm>
            <a:off x="457200" y="1277640"/>
            <a:ext cx="10512720" cy="34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Each project should have data, but coverage and quality may vary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Q: What if the data won’t support the objective?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You might propose ideas on what is achievable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Solve for subset of population?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Pivot the question?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If labeled dataset is small, you might train on labeled data, </a:t>
            </a: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predict on unlabeled, and review cases with high/low probability.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Can more data be collected? Can supplemental data be created?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428760" y="71640"/>
            <a:ext cx="100850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Making Meetings more Productive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457200" y="2057400"/>
            <a:ext cx="434052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"/>
          <p:cNvSpPr/>
          <p:nvPr/>
        </p:nvSpPr>
        <p:spPr>
          <a:xfrm>
            <a:off x="457200" y="1277640"/>
            <a:ext cx="10512720" cy="34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Each sponsor should meet w students as needed.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Q: What if the meetings aren’t productive enough?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You might try:</a:t>
            </a:r>
            <a:br>
              <a:rPr sz="2400"/>
            </a:b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Forming an agenda / agreeing on it beforehand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Sharing results beforehand to discuss during meeting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Decide Next Steps in the meeting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Call out decision points in meeting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Ask for feedback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>
            <a:off x="428760" y="71640"/>
            <a:ext cx="100850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Upskilling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457200" y="2057400"/>
            <a:ext cx="434052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"/>
          <p:cNvSpPr/>
          <p:nvPr/>
        </p:nvSpPr>
        <p:spPr>
          <a:xfrm>
            <a:off x="457200" y="1277640"/>
            <a:ext cx="10512720" cy="34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Ideally, the project brings together skills you’ve learned in the program.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Q: What if I don’t have the skills to solve the problem?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&gt; In some cases, you will need to learn new things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&gt; Your sponsor / mentor might be able to suggest resources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>
            <a:off x="428760" y="71640"/>
            <a:ext cx="100850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Upskilling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457200" y="2057400"/>
            <a:ext cx="434052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"/>
          <p:cNvSpPr/>
          <p:nvPr/>
        </p:nvSpPr>
        <p:spPr>
          <a:xfrm>
            <a:off x="457200" y="1277640"/>
            <a:ext cx="10512720" cy="34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Ideally, the project brings together skills you’ve learned in the program.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Q: What if I don’t have the skills to solve the problem?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&gt; In some cases, you will need to learn new things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&gt; Your sponsor / mentor might be able to suggest resources</a:t>
            </a:r>
            <a:br>
              <a:rPr sz="2200"/>
            </a:b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&gt; Keep a list of open questions, skills needed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Break these down into manageable tasks (e.g., learn n-gram models)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&gt; You might distribute the work across teammates and share learnings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>
            <a:off x="428760" y="71640"/>
            <a:ext cx="100850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Sparse Feedback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457200" y="2057400"/>
            <a:ext cx="434052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"/>
          <p:cNvSpPr/>
          <p:nvPr/>
        </p:nvSpPr>
        <p:spPr>
          <a:xfrm>
            <a:off x="457200" y="1277640"/>
            <a:ext cx="11428560" cy="34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Your mentor and sponsor should provide feedback on your work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Q: What if feedback isn’t arriving often enough?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You can try: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&gt; Checking if there is a better medium for feedback (email, meetings, …)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&gt; Asking if there is a better way to share results</a:t>
            </a: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- Are questions clear enough?</a:t>
            </a: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- Are things summarized? </a:t>
            </a: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(e.g., assemble separate questions into single slide)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>
            <a:off x="428760" y="71640"/>
            <a:ext cx="100850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Sparse Feedback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457200" y="2057400"/>
            <a:ext cx="434052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"/>
          <p:cNvSpPr/>
          <p:nvPr/>
        </p:nvSpPr>
        <p:spPr>
          <a:xfrm>
            <a:off x="457200" y="1277640"/>
            <a:ext cx="11428560" cy="34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Your mentor and sponsor should provide feedback on your work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Q: What if feedback isn’t arriving often enough?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You can try: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&gt; Understanding if there are busier/quieter periods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&gt; Working on aspects not requiring the feedback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>
            <a:off x="428760" y="71640"/>
            <a:ext cx="100850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Model Doesn’t Generalize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457200" y="2057400"/>
            <a:ext cx="434052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"/>
          <p:cNvSpPr/>
          <p:nvPr/>
        </p:nvSpPr>
        <p:spPr>
          <a:xfrm>
            <a:off x="457200" y="1277640"/>
            <a:ext cx="10512720" cy="34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You’ve built a model on training data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performance on new data is worse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Q: Why does my model perform much worse on new data?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This is usually a symptom of overfitting. Can consider:</a:t>
            </a: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k-fold cross validation (for ML models)</a:t>
            </a: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Dropout layers (for deep neural networks)</a:t>
            </a: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More suitable data (larger dataset, more recent data)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Looking at the distribution of training data, new data. </a:t>
            </a: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Is there drift in distribution? If so, training set isn’t sufficient.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>
            <a:off x="428760" y="71640"/>
            <a:ext cx="100850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Unstable Model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457200" y="2057400"/>
            <a:ext cx="434052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"/>
          <p:cNvSpPr/>
          <p:nvPr/>
        </p:nvSpPr>
        <p:spPr>
          <a:xfrm>
            <a:off x="457200" y="1277640"/>
            <a:ext cx="10512720" cy="34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You’ve built a model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When you change hyperparameters slightly, the results change drastically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Q: Why is my model so unstable?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While we tune models for better performance,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a drastic change in output is not desirable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&gt; The model may be too complex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Can try simpler model and examine sensitivity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&gt; Did you cross validate the model? This is a good practice when feasible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>
            <a:off x="428760" y="71640"/>
            <a:ext cx="100850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Sponsor Unsure how to use Deliverables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457200" y="2057400"/>
            <a:ext cx="434052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"/>
          <p:cNvSpPr/>
          <p:nvPr/>
        </p:nvSpPr>
        <p:spPr>
          <a:xfrm>
            <a:off x="457200" y="1277640"/>
            <a:ext cx="10512720" cy="34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Q: What if the sponsor is unsure how to use the deliverables?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&gt; Share work early and often. Avoid dropping everything on them at the end.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&gt; Leave time at the end to walk sponsor through deliverables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&gt; Have a meeting where sponsor team runs the code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&gt; Clearly document the work / code. A README file can be very effective.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It can include objective, main functionality.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"/>
          <p:cNvSpPr/>
          <p:nvPr/>
        </p:nvSpPr>
        <p:spPr>
          <a:xfrm>
            <a:off x="428760" y="71640"/>
            <a:ext cx="100850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Final Thoughts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457200" y="2057400"/>
            <a:ext cx="434052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"/>
          <p:cNvSpPr/>
          <p:nvPr/>
        </p:nvSpPr>
        <p:spPr>
          <a:xfrm>
            <a:off x="457200" y="1277640"/>
            <a:ext cx="10512720" cy="34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You have a support system to help you through capstones including:</a:t>
            </a:r>
            <a:br>
              <a:rPr sz="2400"/>
            </a:b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teammates</a:t>
            </a: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sponsor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faculty mentor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Program Director (Adam Tashman)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Please lean on this system for help!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2579</TotalTime>
  <Application>LibreOffice/7.3.4.2$Windows_X86_64 LibreOffice_project/728fec16bd5f605073805c3c9e7c4212a0120dc5</Application>
  <AppVersion>15.0000</AppVersion>
  <Words>1597</Words>
  <Paragraphs>488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2022-01-22T01:34:19Z</dcterms:created>
  <dc:creator>Fu Owen</dc:creator>
  <dc:description/>
  <dc:language>en-US</dc:language>
  <cp:lastModifiedBy>Adam Tashman</cp:lastModifiedBy>
  <dcterms:modified xsi:type="dcterms:W3CDTF">2025-08-18T08:36:31Z</dcterms:modified>
  <cp:revision>130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25</vt:i4>
  </property>
</Properties>
</file>