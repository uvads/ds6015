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BC9E2D-7C6C-4C64-9547-799766BA97F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A7233D-A942-4F9E-B490-57FFE44390F8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703910-831C-4977-8A17-426BA4B86D33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357660-4CBE-426A-B1F8-3F23548EC397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C0011C-2B12-43BA-A41A-97F1D48B9FEB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C9E6B-E772-462A-8639-375A91D2EA8D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5DCD42-6A78-4869-A141-7AD522C03988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174BA1-DF99-4446-A535-DAAAA842A256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F389F-0310-456D-B5B8-F69E7B4D3667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02FBE-73F3-4323-9BFF-F94E6113E012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0886DC-940B-4E5F-B525-32B45112627A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10ECC8-5BC9-4233-9123-0D38A42B0FF2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矩形 14"/>
          <p:cNvSpPr/>
          <p:nvPr/>
        </p:nvSpPr>
        <p:spPr>
          <a:xfrm>
            <a:off x="0" y="6560280"/>
            <a:ext cx="12189960" cy="29556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矩形 8"/>
          <p:cNvSpPr/>
          <p:nvPr/>
        </p:nvSpPr>
        <p:spPr>
          <a:xfrm>
            <a:off x="0" y="0"/>
            <a:ext cx="12189960" cy="61992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标题 1"/>
          <p:cNvSpPr/>
          <p:nvPr/>
        </p:nvSpPr>
        <p:spPr>
          <a:xfrm>
            <a:off x="783000" y="60120"/>
            <a:ext cx="6591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11450880" y="6592320"/>
            <a:ext cx="648720" cy="23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14"/>
          <p:cNvSpPr/>
          <p:nvPr/>
        </p:nvSpPr>
        <p:spPr>
          <a:xfrm>
            <a:off x="0" y="6560280"/>
            <a:ext cx="12189960" cy="29556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矩形 8"/>
          <p:cNvSpPr/>
          <p:nvPr/>
        </p:nvSpPr>
        <p:spPr>
          <a:xfrm>
            <a:off x="0" y="0"/>
            <a:ext cx="12189960" cy="61992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标题 1"/>
          <p:cNvSpPr/>
          <p:nvPr/>
        </p:nvSpPr>
        <p:spPr>
          <a:xfrm>
            <a:off x="783000" y="60120"/>
            <a:ext cx="6591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ftr" idx="2"/>
          </p:nvPr>
        </p:nvSpPr>
        <p:spPr>
          <a:xfrm>
            <a:off x="11450880" y="6592320"/>
            <a:ext cx="648720" cy="23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703840" y="1153440"/>
            <a:ext cx="567396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3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06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0" y="1639800"/>
            <a:ext cx="5904360" cy="590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60840" bIns="45000" anchor="t">
            <a:normAutofit/>
          </a:bodyPr>
          <a:p>
            <a:pPr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1"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2"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3"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4"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5"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  <a:p>
            <a:pPr lvl="6" marL="414360" indent="-414360">
              <a:lnSpc>
                <a:spcPct val="93000"/>
              </a:lnSpc>
              <a:spcBef>
                <a:spcPts val="2083"/>
              </a:spcBef>
              <a:spcAft>
                <a:spcPts val="210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81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172840" y="1296000"/>
            <a:ext cx="342000" cy="341280"/>
          </a:xfrm>
          <a:custGeom>
            <a:avLst/>
            <a:gdLst/>
            <a:ahLst/>
            <a:rect l="l" t="t" r="r" b="b"/>
            <a:pathLst>
              <a:path w="394" h="394">
                <a:moveTo>
                  <a:pt x="0" y="394"/>
                </a:moveTo>
                <a:lnTo>
                  <a:pt x="394" y="394"/>
                </a:lnTo>
                <a:lnTo>
                  <a:pt x="180" y="90"/>
                </a:lnTo>
                <a:lnTo>
                  <a:pt x="394" y="394"/>
                </a:lnTo>
                <a:lnTo>
                  <a:pt x="270" y="90"/>
                </a:lnTo>
                <a:close/>
              </a:path>
            </a:pathLst>
          </a:custGeom>
          <a:solidFill>
            <a:srgbClr val="4ec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88" name=""/>
          <p:cNvCxnSpPr/>
          <p:nvPr/>
        </p:nvCxnSpPr>
        <p:spPr>
          <a:xfrm flipH="1" flipV="1">
            <a:off x="4641120" y="2963520"/>
            <a:ext cx="2172600" cy="2160"/>
          </a:xfrm>
          <a:prstGeom prst="straightConnector1">
            <a:avLst/>
          </a:prstGeom>
          <a:ln w="28440">
            <a:solidFill>
              <a:srgbClr val="fad825"/>
            </a:solidFill>
            <a:prstDash val="dot"/>
            <a:miter/>
          </a:ln>
        </p:spPr>
      </p:cxnSp>
      <p:sp>
        <p:nvSpPr>
          <p:cNvPr id="89" name=""/>
          <p:cNvSpPr/>
          <p:nvPr/>
        </p:nvSpPr>
        <p:spPr>
          <a:xfrm>
            <a:off x="11921760" y="867600"/>
            <a:ext cx="268560" cy="5660640"/>
          </a:xfrm>
          <a:prstGeom prst="rect">
            <a:avLst/>
          </a:prstGeom>
          <a:solidFill>
            <a:srgbClr val="132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PlaceHolder 3"/>
          <p:cNvSpPr>
            <a:spLocks noGrp="1"/>
          </p:cNvSpPr>
          <p:nvPr>
            <p:ph type="sldNum" idx="3"/>
          </p:nvPr>
        </p:nvSpPr>
        <p:spPr>
          <a:xfrm>
            <a:off x="8289000" y="6143760"/>
            <a:ext cx="422280" cy="397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spcBef>
                <a:spcPts val="176"/>
              </a:spcBef>
              <a:spcAft>
                <a:spcPts val="17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000" spc="-1" strike="noStrike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spcBef>
                <a:spcPts val="176"/>
              </a:spcBef>
              <a:spcAft>
                <a:spcPts val="17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42FC8366-1B8D-4B99-8D93-6946B425BDC0}" type="slidenum">
              <a:rPr b="0" lang="en-US" sz="1000" spc="-1" strike="noStrike">
                <a:solidFill>
                  <a:srgbClr val="585858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4"/>
          <p:cNvSpPr/>
          <p:nvPr/>
        </p:nvSpPr>
        <p:spPr>
          <a:xfrm>
            <a:off x="0" y="6560280"/>
            <a:ext cx="12189960" cy="29556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矩形 8"/>
          <p:cNvSpPr/>
          <p:nvPr/>
        </p:nvSpPr>
        <p:spPr>
          <a:xfrm>
            <a:off x="0" y="0"/>
            <a:ext cx="12189960" cy="619920"/>
          </a:xfrm>
          <a:prstGeom prst="rect">
            <a:avLst/>
          </a:prstGeom>
          <a:solidFill>
            <a:srgbClr val="0c2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" name="标题 1"/>
          <p:cNvSpPr/>
          <p:nvPr/>
        </p:nvSpPr>
        <p:spPr>
          <a:xfrm>
            <a:off x="783000" y="60120"/>
            <a:ext cx="6591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PlaceHolder 1"/>
          <p:cNvSpPr>
            <a:spLocks noGrp="1"/>
          </p:cNvSpPr>
          <p:nvPr>
            <p:ph type="ftr" idx="4"/>
          </p:nvPr>
        </p:nvSpPr>
        <p:spPr>
          <a:xfrm>
            <a:off x="11450880" y="6592320"/>
            <a:ext cx="648720" cy="23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224360" y="2378520"/>
            <a:ext cx="973332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Useful Statistics and Error Analysis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2722680" y="3360600"/>
            <a:ext cx="6578640" cy="276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90000"/>
              </a:lnSpc>
              <a:spcBef>
                <a:spcPts val="224"/>
              </a:spcBef>
              <a:spcAft>
                <a:spcPts val="22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DS 6015: Data Science Capstone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School of Data Science 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University of Virginia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49"/>
              </a:spcBef>
              <a:spcAft>
                <a:spcPts val="249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Last updated: August 18, 2025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428760" y="71640"/>
            <a:ext cx="333540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Background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57200" y="2057400"/>
            <a:ext cx="4341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"/>
          <p:cNvSpPr/>
          <p:nvPr/>
        </p:nvSpPr>
        <p:spPr>
          <a:xfrm>
            <a:off x="457200" y="1457640"/>
            <a:ext cx="10514160" cy="34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Suppose we have built an ML model that predicts three quantities: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(Calcium, Phosphorus, PTH)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will look at some summary statistics of the data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will look at some error metrics to understand the predictive performance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As we will learn, it is relatively easy to compute statistics and metrics...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...it often takes more work to measure the right things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About the Data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457920" y="1071000"/>
            <a:ext cx="10514160" cy="7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data is all fictitious (simulated)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Summary Statistics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177" name=""/>
          <p:cNvGraphicFramePr/>
          <p:nvPr/>
        </p:nvGraphicFramePr>
        <p:xfrm>
          <a:off x="3323880" y="1395720"/>
          <a:ext cx="5075280" cy="248868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2360"/>
              </a:tblGrid>
              <a:tr h="347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Mean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SD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PTH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500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425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Calcium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9.1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0.7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Phosphorus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5.5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1.7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"/>
          <p:cNvSpPr/>
          <p:nvPr/>
        </p:nvSpPr>
        <p:spPr>
          <a:xfrm>
            <a:off x="457200" y="5228640"/>
            <a:ext cx="10514160" cy="7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Based on these stats, which variable may be the hardest to predict?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Summary Statistics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180" name=""/>
          <p:cNvGraphicFramePr/>
          <p:nvPr/>
        </p:nvGraphicFramePr>
        <p:xfrm>
          <a:off x="3323880" y="1395720"/>
          <a:ext cx="5075280" cy="248868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2360"/>
              </a:tblGrid>
              <a:tr h="347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Mean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latin typeface="Arial"/>
                        </a:rPr>
                        <a:t>SD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PTH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500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425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Calcium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9.1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0.7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Phosphorus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5.5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1.7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"/>
          <p:cNvSpPr/>
          <p:nvPr/>
        </p:nvSpPr>
        <p:spPr>
          <a:xfrm>
            <a:off x="457200" y="5228640"/>
            <a:ext cx="10514160" cy="7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Based on these stats, which variable may be the hardest to predict?</a:t>
            </a:r>
            <a:br>
              <a:rPr sz="2400"/>
            </a:b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Answer: PTH, given the much higher standard deviation.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6"/>
          <p:cNvSpPr/>
          <p:nvPr/>
        </p:nvSpPr>
        <p:spPr>
          <a:xfrm>
            <a:off x="672480" y="992880"/>
            <a:ext cx="10755360" cy="411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Overall Error of Predictions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184" name="Table 5"/>
          <p:cNvGraphicFramePr/>
          <p:nvPr/>
        </p:nvGraphicFramePr>
        <p:xfrm>
          <a:off x="2574720" y="3330720"/>
          <a:ext cx="4825800" cy="1457640"/>
        </p:xfrm>
        <a:graphic>
          <a:graphicData uri="http://schemas.openxmlformats.org/drawingml/2006/table">
            <a:tbl>
              <a:tblPr/>
              <a:tblGrid>
                <a:gridCol w="2413080"/>
                <a:gridCol w="2413080"/>
              </a:tblGrid>
              <a:tr h="7290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RMSE (training set)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RMSE (test set)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noFill/>
                    </a:lnB>
                    <a:solidFill>
                      <a:srgbClr val="bfbfbf"/>
                    </a:solidFill>
                  </a:tcPr>
                </a:tc>
              </a:tr>
              <a:tr h="7290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0.28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0.30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"/>
          <p:cNvSpPr/>
          <p:nvPr/>
        </p:nvSpPr>
        <p:spPr>
          <a:xfrm>
            <a:off x="228600" y="1756800"/>
            <a:ext cx="10514160" cy="14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are these metrics telling us?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Are they useful? What would be more useful?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672480" y="992880"/>
            <a:ext cx="10755360" cy="411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Overall Error of Predictions</a:t>
            </a:r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188" name="Table 2"/>
          <p:cNvGraphicFramePr/>
          <p:nvPr/>
        </p:nvGraphicFramePr>
        <p:xfrm>
          <a:off x="2574720" y="3330720"/>
          <a:ext cx="4825800" cy="1457640"/>
        </p:xfrm>
        <a:graphic>
          <a:graphicData uri="http://schemas.openxmlformats.org/drawingml/2006/table">
            <a:tbl>
              <a:tblPr/>
              <a:tblGrid>
                <a:gridCol w="2413080"/>
                <a:gridCol w="2413080"/>
              </a:tblGrid>
              <a:tr h="7290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RMSE (training set)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RMSE (test set)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noFill/>
                    </a:lnB>
                    <a:solidFill>
                      <a:srgbClr val="bfbfbf"/>
                    </a:solidFill>
                  </a:tcPr>
                </a:tc>
              </a:tr>
              <a:tr h="7290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0.28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等线"/>
                        </a:rPr>
                        <a:t>0.30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"/>
          <p:cNvSpPr/>
          <p:nvPr/>
        </p:nvSpPr>
        <p:spPr>
          <a:xfrm>
            <a:off x="228600" y="1756800"/>
            <a:ext cx="10514160" cy="14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are these metrics telling us?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Are they useful? What would be more useful?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Answer: It would be helpful to break out RMSE by PTH, calcium, phos.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Errors by Elements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228600" y="1361520"/>
            <a:ext cx="10514160" cy="11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information does this add to our understanding?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do we not know? 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92" name=""/>
          <p:cNvGraphicFramePr/>
          <p:nvPr/>
        </p:nvGraphicFramePr>
        <p:xfrm>
          <a:off x="3563280" y="3012120"/>
          <a:ext cx="3382920" cy="248868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347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RMSE </a:t>
                      </a:r>
                      <a:br>
                        <a:rPr sz="1800"/>
                      </a:b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(test set)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PTH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1.5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Calcium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0.2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Phosphorus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0.5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Errors by Elements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228600" y="1361520"/>
            <a:ext cx="10514160" cy="11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information does this add to our understanding?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do we not know?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Answer: We don’t know errors of each observation.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95" name=""/>
          <p:cNvGraphicFramePr/>
          <p:nvPr/>
        </p:nvGraphicFramePr>
        <p:xfrm>
          <a:off x="3563280" y="3012120"/>
          <a:ext cx="3382920" cy="248868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34776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RMSE </a:t>
                      </a:r>
                      <a:br>
                        <a:rPr sz="1800"/>
                      </a:b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(test set)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t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5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PTH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1.5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Calcium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0.2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Arial"/>
                        </a:rPr>
                        <a:t>Phosphorus</a:t>
                      </a:r>
                      <a:endParaRPr b="0" lang="en-US" sz="18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latin typeface="Arial"/>
                        </a:rPr>
                        <a:t>0.5</a:t>
                      </a:r>
                      <a:endParaRPr b="0" lang="en-US" sz="2400" spc="-1" strike="noStrike">
                        <a:latin typeface="Times New Roman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Histograms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50000" y="1143000"/>
            <a:ext cx="10514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Histograms show the full distribution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is richer information than a statistic like a mean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Histogram of Errors - PTH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2286000" y="999000"/>
            <a:ext cx="10514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How is this graph useful? Are there limitations?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2309040" y="1600200"/>
            <a:ext cx="7062840" cy="462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Histogram of Errors - PTH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2286000" y="999000"/>
            <a:ext cx="10514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How is this graph useful? Are there limitations?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Answer: We don’t know errors versus actuals, covariates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2309040" y="1780200"/>
            <a:ext cx="7062840" cy="462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Predicted vs Actual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286000" y="999000"/>
            <a:ext cx="10514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How is this graph useful? Are there limitations?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1920240" y="1443600"/>
            <a:ext cx="7908840" cy="471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Using Errors to Improve the Model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457560" y="1170360"/>
            <a:ext cx="117334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Deep diving into errors (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error analysis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) can help improve the model: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the largest errors,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Are there patterns?</a:t>
            </a:r>
            <a:br>
              <a:rPr sz="2400"/>
            </a:b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Microsoft YaHei"/>
              </a:rPr>
              <a:t>- Are these cases due to invalid data? 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Microsoft YaHei"/>
              </a:rPr>
              <a:t> 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Action: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Might want to repair / exclude this data.</a:t>
            </a:r>
            <a:br>
              <a:rPr sz="2400"/>
            </a:b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Microsoft YaHei"/>
              </a:rPr>
              <a:t>- Are we missing predictors?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Microsoft YaHei"/>
              </a:rPr>
              <a:t> 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Action: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Might want to test more predictors.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Empirical Distributions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57200" y="1788840"/>
            <a:ext cx="10514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a random variable, the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cumulative distribution function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shows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probability that the value is x or lower: F(x) = P(X &lt;= x)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When we observe a batch of data, we can compute and graph this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over a range of values for x. Called the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empirical distribution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provides much richer information than the mean, as we can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see the data across all percentiles.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Empirical Distributions, contd.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57920" y="1071000"/>
            <a:ext cx="10514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information does this graph provide?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685800" y="1600200"/>
            <a:ext cx="5485680" cy="3472920"/>
          </a:xfrm>
          <a:prstGeom prst="rect">
            <a:avLst/>
          </a:prstGeom>
          <a:ln w="0">
            <a:noFill/>
          </a:ln>
        </p:spPr>
      </p:pic>
      <p:sp>
        <p:nvSpPr>
          <p:cNvPr id="214" name=""/>
          <p:cNvSpPr/>
          <p:nvPr/>
        </p:nvSpPr>
        <p:spPr>
          <a:xfrm>
            <a:off x="6976800" y="1035000"/>
            <a:ext cx="4799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Percentiles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215" name=""/>
          <p:cNvGraphicFramePr/>
          <p:nvPr/>
        </p:nvGraphicFramePr>
        <p:xfrm>
          <a:off x="7100640" y="1635480"/>
          <a:ext cx="1906560" cy="2140920"/>
        </p:xfrm>
        <a:graphic>
          <a:graphicData uri="http://schemas.openxmlformats.org/drawingml/2006/table">
            <a:tbl>
              <a:tblPr/>
              <a:tblGrid>
                <a:gridCol w="953640"/>
                <a:gridCol w="953280"/>
              </a:tblGrid>
              <a:tr h="7005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Arial"/>
                        </a:rPr>
                        <a:t>median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Arial"/>
                        </a:rPr>
                        <a:t>30.42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Arial"/>
                        </a:rPr>
                        <a:t>75%ile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Arial"/>
                        </a:rPr>
                        <a:t>54.90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360"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Arial"/>
                        </a:rPr>
                        <a:t>90%ile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600" spc="-1" strike="noStrike">
                          <a:latin typeface="Arial"/>
                        </a:rPr>
                        <a:t>86.63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anchor="ctr" marL="90000" marR="90000">
                    <a:lnL w="32400">
                      <a:solidFill>
                        <a:srgbClr val="000000"/>
                      </a:solidFill>
                    </a:lnL>
                    <a:lnR w="32400">
                      <a:solidFill>
                        <a:srgbClr val="000000"/>
                      </a:solidFill>
                    </a:lnR>
                    <a:lnT w="32400">
                      <a:solidFill>
                        <a:srgbClr val="000000"/>
                      </a:solidFill>
                    </a:lnT>
                    <a:lnB w="324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6160" y="69120"/>
            <a:ext cx="8904240" cy="49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Times New Roman"/>
              </a:rPr>
              <a:t>Takeaways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57560" y="1170360"/>
            <a:ext cx="1173348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can be tempting to: 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produce / report a lot of statistics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 try a battery of ML models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Given available packages, this is often easy to do!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But often it is better to: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carefully consider which statistics are valuable</a:t>
            </a: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carefully analyze prediction errors</a:t>
            </a:r>
            <a:br>
              <a:rPr sz="2400"/>
            </a:br>
            <a:br>
              <a:rPr sz="2400"/>
            </a:b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Learnings from prediction errors can often improve results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 model can overcome bad data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2499</TotalTime>
  <Application>LibreOffice/7.3.4.2$Windows_X86_64 LibreOffice_project/728fec16bd5f605073805c3c9e7c4212a0120dc5</Application>
  <AppVersion>15.0000</AppVersion>
  <Words>1597</Words>
  <Paragraphs>488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2022-01-22T01:34:19Z</dcterms:created>
  <dc:creator>Fu Owen</dc:creator>
  <dc:description/>
  <dc:language>en-US</dc:language>
  <cp:lastModifiedBy>Adam Tashman</cp:lastModifiedBy>
  <dcterms:modified xsi:type="dcterms:W3CDTF">2025-08-18T08:17:54Z</dcterms:modified>
  <cp:revision>67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25</vt:i4>
  </property>
</Properties>
</file>